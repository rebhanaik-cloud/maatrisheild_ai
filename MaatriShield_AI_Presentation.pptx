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011680"/>
          </a:xfrm>
          <a:prstGeom prst="rect">
            <a:avLst/>
          </a:prstGeom>
          <a:solidFill>
            <a:srgbClr val="FFEEF3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1371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645920"/>
            <a:ext cx="1828800" cy="1828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85A71"/>
                </a:solidFill>
                <a:latin typeface="Georgia"/>
              </a:defRPr>
            </a:pPr>
            <a:r>
              <a:t>♡ AI Care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19456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8C3A5A"/>
                </a:solidFill>
                <a:latin typeface="Georgia"/>
              </a:defRPr>
            </a:pPr>
            <a:r>
              <a:t>MaatriShield AI</a:t>
            </a:r>
          </a:p>
          <a:p>
            <a:pPr>
              <a:spcBef>
                <a:spcPts val="400"/>
              </a:spcBef>
              <a:defRPr sz="2000" i="1">
                <a:solidFill>
                  <a:srgbClr val="E85A71"/>
                </a:solidFill>
                <a:latin typeface="Georgia"/>
              </a:defRPr>
            </a:pPr>
            <a:r>
              <a:t>Maternal Healthcare &amp; IVF Care Coordination Platform</a:t>
            </a:r>
          </a:p>
          <a:p>
            <a:pPr>
              <a:spcBef>
                <a:spcPts val="600"/>
              </a:spcBef>
              <a:defRPr sz="1300">
                <a:solidFill>
                  <a:srgbClr val="8B7788"/>
                </a:solidFill>
                <a:latin typeface="Calibri"/>
              </a:defRPr>
            </a:pPr>
            <a:r>
              <a:t>Empathetic Patient Navigation · Persistent Health Records · Intelligent Safety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944849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663440"/>
            <a:ext cx="886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5A71"/>
                </a:solidFill>
                <a:latin typeface="Calibri"/>
              </a:defRPr>
            </a:pPr>
            <a:r>
              <a:t>PROJECT TEAM MEMBERS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3D2C35"/>
                </a:solidFill>
                <a:latin typeface="Georgia"/>
              </a:defRPr>
            </a:pPr>
            <a:r>
              <a:t>SANCITHA DIVAKAR   •   REBHA NAIK   •   NAYANA G</a:t>
            </a:r>
          </a:p>
          <a:p>
            <a:pPr algn="ctr">
              <a:spcBef>
                <a:spcPts val="600"/>
              </a:spcBef>
              <a:defRPr sz="1200">
                <a:solidFill>
                  <a:srgbClr val="8B7788"/>
                </a:solidFill>
                <a:latin typeface="Calibri"/>
              </a:defRPr>
            </a:pPr>
            <a:r>
              <a:t>React + Vite Frontend  ·  FastAPI Python Backend  ·  PostgreSQL Database  ·  JWT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TABLE OF CONTENTS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Presentation Index &amp;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029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74520"/>
            <a:ext cx="822960" cy="82296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8308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2C35"/>
                </a:solidFill>
                <a:latin typeface="Georgia"/>
              </a:defRPr>
            </a:pPr>
            <a:r>
              <a:t>Proposed Idea &amp; Problem Statement</a:t>
            </a:r>
          </a:p>
          <a:p>
            <a:pPr>
              <a:spcBef>
                <a:spcPts val="3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Maternal &amp; IVF care gap, fragmented consultations, patient anxiety &amp; our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1874520"/>
            <a:ext cx="822960" cy="82296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78308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2C35"/>
                </a:solidFill>
                <a:latin typeface="Georgia"/>
              </a:defRPr>
            </a:pPr>
            <a:r>
              <a:t>Technical Approach &amp; Implementation</a:t>
            </a:r>
          </a:p>
          <a:p>
            <a:pPr>
              <a:spcBef>
                <a:spcPts val="3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Full-stack architecture, direct bcrypt hashing, session hydration &amp; safety triage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5029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429000"/>
            <a:ext cx="822960" cy="82296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33756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2C35"/>
                </a:solidFill>
                <a:latin typeface="Georgia"/>
              </a:defRPr>
            </a:pPr>
            <a:r>
              <a:t>System Architecture &amp; Security</a:t>
            </a:r>
          </a:p>
          <a:p>
            <a:pPr>
              <a:spcBef>
                <a:spcPts val="3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4-tier architecture, data flow, row-level isolation &amp; CORS pipeline guardrails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029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3429000"/>
            <a:ext cx="822960" cy="82296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33756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2C35"/>
                </a:solidFill>
                <a:latin typeface="Georgia"/>
              </a:defRPr>
            </a:pPr>
            <a:r>
              <a:t>Feasibility &amp; Scalability Analysis</a:t>
            </a:r>
          </a:p>
          <a:p>
            <a:pPr>
              <a:spcBef>
                <a:spcPts val="3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Technical, operational, economic, and clinical non-diagnostic boundary feasibility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5029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983480"/>
            <a:ext cx="822960" cy="82296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89204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2C35"/>
                </a:solidFill>
                <a:latin typeface="Georgia"/>
              </a:defRPr>
            </a:pPr>
            <a:r>
              <a:t>Healthcare Impact &amp; Patient Benefits</a:t>
            </a:r>
          </a:p>
          <a:p>
            <a:pPr>
              <a:spcBef>
                <a:spcPts val="3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Quantifiable maternal wellbeing benefits, emergency escalation &amp; provider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029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983480"/>
            <a:ext cx="822960" cy="82296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89204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2C35"/>
                </a:solidFill>
                <a:latin typeface="Georgia"/>
              </a:defRPr>
            </a:pPr>
            <a:r>
              <a:t>Standards, References &amp; Roadmap</a:t>
            </a:r>
          </a:p>
          <a:p>
            <a:pPr>
              <a:spcBef>
                <a:spcPts val="3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WHO/ACOG maternal guidelines, EHR/FHIR interoperability &amp; future AI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01 · PROPOSED IDEA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01. Proposed Idea: Healthcare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The IVF &amp; Fertility Journey 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D2C35"/>
                </a:solidFill>
                <a:latin typeface="Calibri"/>
              </a:defRPr>
            </a:pPr>
            <a:r>
              <a:t>Couples undergoing Assisted Reproductive Technology (IVF) face high anxiety, complex injection protocols, and two-week-wait isolation without structured digital guidance.</a:t>
            </a:r>
          </a:p>
          <a:p>
            <a:pPr>
              <a:spcAft>
                <a:spcPts val="600"/>
              </a:spcAft>
              <a:defRPr sz="1000" b="1">
                <a:solidFill>
                  <a:srgbClr val="E85A71"/>
                </a:solidFill>
                <a:latin typeface="Calibri"/>
              </a:defRPr>
            </a:pPr>
            <a:r>
              <a:t>KEY VULNERABILITIES: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Complex medication schedules (progesterone, trigger shots)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Lack of specialized, non-generic pregnancy tracking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Emotional vulnerability and high stress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0"/>
          </a:xfrm>
          <a:prstGeom prst="rect">
            <a:avLst/>
          </a:prstGeom>
          <a:solidFill>
            <a:srgbClr val="48A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Fragmented Patient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D2C35"/>
                </a:solidFill>
                <a:latin typeface="Calibri"/>
              </a:defRPr>
            </a:pPr>
            <a:r>
              <a:t>Mothers visit multiple doctors (obstetricians, sonographers, fertility specialists) but have no unified place to record questions, symptoms, and check-in history.</a:t>
            </a:r>
          </a:p>
          <a:p>
            <a:pPr>
              <a:spcAft>
                <a:spcPts val="600"/>
              </a:spcAft>
              <a:defRPr sz="1000" b="1">
                <a:solidFill>
                  <a:srgbClr val="48AF91"/>
                </a:solidFill>
                <a:latin typeface="Calibri"/>
              </a:defRPr>
            </a:pPr>
            <a:r>
              <a:t>KEY VULNERABILITIES: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Questions forgotten during short clinical consultations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Disjointed paper records and unorganized ultrasound notes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No persistent longitudinal symptom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0"/>
          </a:xfrm>
          <a:prstGeom prst="rect">
            <a:avLst/>
          </a:prstGeom>
          <a:solidFill>
            <a:srgbClr val="8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Critical Triage Ambiguity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D2C35"/>
                </a:solidFill>
                <a:latin typeface="Calibri"/>
              </a:defRPr>
            </a:pPr>
            <a:r>
              <a:t>Expectant mothers frequently confuse common discomforts (morning sickness) with acute emergencies (pre-eclampsia, severe hemorrhage) without immediate safety direction.</a:t>
            </a:r>
          </a:p>
          <a:p>
            <a:pPr>
              <a:spcAft>
                <a:spcPts val="600"/>
              </a:spcAft>
              <a:defRPr sz="1000" b="1">
                <a:solidFill>
                  <a:srgbClr val="8C3A5A"/>
                </a:solidFill>
                <a:latin typeface="Calibri"/>
              </a:defRPr>
            </a:pPr>
            <a:r>
              <a:t>KEY VULNERABILITIES: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Delayed seeking of emergency obstetric care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Overwhelming of ER triage desks with routine queries</a:t>
            </a:r>
          </a:p>
          <a:p>
            <a:pPr>
              <a:spcAft>
                <a:spcPts val="400"/>
              </a:spcAft>
              <a:defRPr sz="1100">
                <a:solidFill>
                  <a:srgbClr val="8B7788"/>
                </a:solidFill>
                <a:latin typeface="Calibri"/>
              </a:defRPr>
            </a:pPr>
            <a:r>
              <a:t>• Dangerous reliance on generic unverified web searches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01 · PROPOSED IDEA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01. Proposed Idea: MaatriShield AI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C3A5A"/>
                </a:solidFill>
                <a:latin typeface="Georgia"/>
              </a:defRPr>
            </a:pPr>
            <a:r>
              <a:t>Our Vision: Comprehensive, Secure, and Compassionate Care Navigation</a:t>
            </a:r>
          </a:p>
          <a:p>
            <a:pPr>
              <a:defRPr sz="1200">
                <a:solidFill>
                  <a:srgbClr val="3D2C35"/>
                </a:solidFill>
                <a:latin typeface="Calibri"/>
              </a:defRPr>
            </a:pPr>
            <a:r>
              <a:t>MaatriShield AI bridges the gap between home care and hospital consultations by offering personalized care pathways, real-time safety triage, and persistent clinical logs in a warm, patient-friendly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3200400"/>
            <a:ext cx="914400" cy="91440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2C35"/>
                </a:solidFill>
                <a:latin typeface="Georgia"/>
              </a:defRPr>
            </a:pPr>
            <a:r>
              <a:t>Personalized Care Pathway</a:t>
            </a:r>
          </a:p>
          <a:p>
            <a:pPr algn="ctr">
              <a:spcBef>
                <a:spcPts val="8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Tailored onboarding dynamically distinguishes IVF patients (embryo transfer, stimulation) from standard maternity journeys.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9260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3200400"/>
            <a:ext cx="914400" cy="91440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976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2C35"/>
                </a:solidFill>
                <a:latin typeface="Georgia"/>
              </a:defRPr>
            </a:pPr>
            <a:r>
              <a:t>AI Safety Companion</a:t>
            </a:r>
          </a:p>
          <a:p>
            <a:pPr algn="ctr">
              <a:spcBef>
                <a:spcPts val="8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Safety-first conversational engine provides immediate empathetic guidance while detecting critical emergency red-flags.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260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3200400"/>
            <a:ext cx="914400" cy="91440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976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2C35"/>
                </a:solidFill>
                <a:latin typeface="Georgia"/>
              </a:defRPr>
            </a:pPr>
            <a:r>
              <a:t>Persistent Care Records</a:t>
            </a:r>
          </a:p>
          <a:p>
            <a:pPr algn="ctr">
              <a:spcBef>
                <a:spcPts val="8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Centralized, database-backed appointment planner, daily wellbeing logs, and question repository for clinic visits.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9260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6920" y="3200400"/>
            <a:ext cx="914400" cy="914400"/>
          </a:xfrm>
          <a:prstGeom prst="ellipse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2976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2C35"/>
                </a:solidFill>
                <a:latin typeface="Georgia"/>
              </a:defRPr>
            </a:pPr>
            <a:r>
              <a:t>Security &amp; Privacy by Design</a:t>
            </a:r>
          </a:p>
          <a:p>
            <a:pPr algn="ctr">
              <a:spcBef>
                <a:spcPts val="8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Row-level data isolation, industry-standard bcrypt password hashing, and encrypted JWT tokens for sensitive maternal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02 · TECHNICAL APPROACH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02. Technical Approach: Modern Engineering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64008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Frontend Client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108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Framework: </a:t>
            </a:r>
            <a:r>
              <a:rPr b="0">
                <a:solidFill>
                  <a:srgbClr val="8B7788"/>
                </a:solidFill>
              </a:rPr>
              <a:t>React 19 with Vite for ultra-fast HMR and bundling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UI Design: </a:t>
            </a:r>
            <a:r>
              <a:rPr b="0">
                <a:solidFill>
                  <a:srgbClr val="8B7788"/>
                </a:solidFill>
              </a:rPr>
              <a:t>Tailored DM Sans &amp; Playfair Display typography, responsive mobile drawer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Icons &amp; Theme: </a:t>
            </a:r>
            <a:r>
              <a:rPr b="0">
                <a:solidFill>
                  <a:srgbClr val="8B7788"/>
                </a:solidFill>
              </a:rPr>
              <a:t>Lucide React, custom warm pastel maternal aesthetic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State Hydration: </a:t>
            </a:r>
            <a:r>
              <a:rPr b="0">
                <a:solidFill>
                  <a:srgbClr val="8B7788"/>
                </a:solidFill>
              </a:rPr>
              <a:t>Centralized API helper, backward-compatible localStorage key migration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Deployment: </a:t>
            </a:r>
            <a:r>
              <a:rPr b="0">
                <a:solidFill>
                  <a:srgbClr val="8B7788"/>
                </a:solidFill>
              </a:rPr>
              <a:t>Vercel edge hosting with automated CI/CD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640080"/>
          </a:xfrm>
          <a:prstGeom prst="rect">
            <a:avLst/>
          </a:prstGeom>
          <a:solidFill>
            <a:srgbClr val="48A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Backend Services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23160"/>
            <a:ext cx="3108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Framework: </a:t>
            </a:r>
            <a:r>
              <a:rPr b="0">
                <a:solidFill>
                  <a:srgbClr val="8B7788"/>
                </a:solidFill>
              </a:rPr>
              <a:t>FastAPI (Python 3.12+) asynchronous high-performance server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Authentication: </a:t>
            </a:r>
            <a:r>
              <a:rPr b="0">
                <a:solidFill>
                  <a:srgbClr val="8B7788"/>
                </a:solidFill>
              </a:rPr>
              <a:t>OAuth2 Bearer JWT session management (24-hour expiration)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Security: </a:t>
            </a:r>
            <a:r>
              <a:rPr b="0">
                <a:solidFill>
                  <a:srgbClr val="8B7788"/>
                </a:solidFill>
              </a:rPr>
              <a:t>Direct bcrypt password hashing (12 rounds, safe 72-byte truncation)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CORS Security: </a:t>
            </a:r>
            <a:r>
              <a:rPr b="0">
                <a:solidFill>
                  <a:srgbClr val="8B7788"/>
                </a:solidFill>
              </a:rPr>
              <a:t>Multi-origin regex matching production &amp; Vercel branch previews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Deployment: </a:t>
            </a:r>
            <a:r>
              <a:rPr b="0">
                <a:solidFill>
                  <a:srgbClr val="8B7788"/>
                </a:solidFill>
              </a:rPr>
              <a:t>Render cloud web service with automatic health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640080"/>
          </a:xfrm>
          <a:prstGeom prst="rect">
            <a:avLst/>
          </a:prstGeom>
          <a:solidFill>
            <a:srgbClr val="8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Data &amp; Persistence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23160"/>
            <a:ext cx="3108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ORM Engine: </a:t>
            </a:r>
            <a:r>
              <a:rPr b="0">
                <a:solidFill>
                  <a:srgbClr val="8B7788"/>
                </a:solidFill>
              </a:rPr>
              <a:t>SQLAlchemy 2.0 declarative models with cascading relationships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Production DB: </a:t>
            </a:r>
            <a:r>
              <a:rPr b="0">
                <a:solidFill>
                  <a:srgbClr val="8B7788"/>
                </a:solidFill>
              </a:rPr>
              <a:t>PostgreSQL (psycopg3 driver) with automatic URL normalization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Development DB: </a:t>
            </a:r>
            <a:r>
              <a:rPr b="0">
                <a:solidFill>
                  <a:srgbClr val="8B7788"/>
                </a:solidFill>
              </a:rPr>
              <a:t>SQLite with zero-configuration offline fallback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Data Integrity: </a:t>
            </a:r>
            <a:r>
              <a:rPr b="0">
                <a:solidFill>
                  <a:srgbClr val="8B7788"/>
                </a:solidFill>
              </a:rPr>
              <a:t>Row-level user isolation on all appointments, notes, and profiles</a:t>
            </a:r>
          </a:p>
          <a:p>
            <a:pPr>
              <a:spcAft>
                <a:spcPts val="7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Verification: </a:t>
            </a:r>
            <a:r>
              <a:rPr b="0">
                <a:solidFill>
                  <a:srgbClr val="8B7788"/>
                </a:solidFill>
              </a:rPr>
              <a:t>Live database heartbeat verification on /api/health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02 · TECHNICAL APPROACH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02. Technical Approach: Key Engineering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7548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A5A"/>
                </a:solidFill>
                <a:latin typeface="Georgia"/>
              </a:defRPr>
            </a:pPr>
            <a:r>
              <a:t>1. Direct Bcrypt Modernization</a:t>
            </a:r>
          </a:p>
          <a:p>
            <a:pPr>
              <a:spcBef>
                <a:spcPts val="300"/>
              </a:spcBef>
              <a:defRPr sz="1100">
                <a:solidFill>
                  <a:srgbClr val="3D2C35"/>
                </a:solidFill>
                <a:latin typeface="Calibri"/>
              </a:defRPr>
            </a:pPr>
            <a:r>
              <a:t>Replaced unmaintained 'passlib' with direct bcrypt.hashpw (12 rounds). Eliminates the critical AttributeError: module 'bcrypt' has no attribute '__about__' and handles 72-byte password safety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109728" cy="137160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55648"/>
            <a:ext cx="47548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A5A"/>
                </a:solidFill>
                <a:latin typeface="Georgia"/>
              </a:defRPr>
            </a:pPr>
            <a:r>
              <a:t>2. Zero-Loss Session Hydration</a:t>
            </a:r>
          </a:p>
          <a:p>
            <a:pPr>
              <a:spcBef>
                <a:spcPts val="300"/>
              </a:spcBef>
              <a:defRPr sz="1100">
                <a:solidFill>
                  <a:srgbClr val="3D2C35"/>
                </a:solidFill>
                <a:latin typeface="Calibri"/>
              </a:defRPr>
            </a:pPr>
            <a:r>
              <a:t>Implemented proactive session verification via /api/me on application startup. Returning users retain their full personalized care space without re-registering or facing premature session drops.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09728" cy="137160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47548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A5A"/>
                </a:solidFill>
                <a:latin typeface="Georgia"/>
              </a:defRPr>
            </a:pPr>
            <a:r>
              <a:t>3. Resilient Multi-Cloud CORS</a:t>
            </a:r>
          </a:p>
          <a:p>
            <a:pPr>
              <a:spcBef>
                <a:spcPts val="300"/>
              </a:spcBef>
              <a:defRPr sz="1100">
                <a:solidFill>
                  <a:srgbClr val="3D2C35"/>
                </a:solidFill>
                <a:latin typeface="Calibri"/>
              </a:defRPr>
            </a:pPr>
            <a:r>
              <a:t>Engineered CORS origin regex (r'^https://([a-zA-Z0-9_-]+\.)?vercel\.app$') allowing seamless communication between Vercel preview/production deployments and the Render FastAPI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200400"/>
            <a:ext cx="109728" cy="137160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10128"/>
            <a:ext cx="47548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A5A"/>
                </a:solidFill>
                <a:latin typeface="Georgia"/>
              </a:defRPr>
            </a:pPr>
            <a:r>
              <a:t>4. Automated URL Normalization</a:t>
            </a:r>
          </a:p>
          <a:p>
            <a:pPr>
              <a:spcBef>
                <a:spcPts val="300"/>
              </a:spcBef>
              <a:defRPr sz="1100">
                <a:solidFill>
                  <a:srgbClr val="3D2C35"/>
                </a:solidFill>
                <a:latin typeface="Calibri"/>
              </a:defRPr>
            </a:pPr>
            <a:r>
              <a:t>Automatically translates Render's legacy postgres:// URLs to SQLAlchemy 2.0 compliant postgresql+psycopg:// connection strings, ensuring zero deployment crashes on managed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109728" cy="137160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64608"/>
            <a:ext cx="47548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A5A"/>
                </a:solidFill>
                <a:latin typeface="Georgia"/>
              </a:defRPr>
            </a:pPr>
            <a:r>
              <a:t>5. Dual-Key LocalStorage Migration</a:t>
            </a:r>
          </a:p>
          <a:p>
            <a:pPr>
              <a:spcBef>
                <a:spcPts val="300"/>
              </a:spcBef>
              <a:defRPr sz="1100">
                <a:solidFill>
                  <a:srgbClr val="3D2C35"/>
                </a:solidFill>
                <a:latin typeface="Calibri"/>
              </a:defRPr>
            </a:pPr>
            <a:r>
              <a:t>Engineered backward-compatibility migration that automatically detects and upgrades legacy keys ('maat rishield-profile' -&gt; 'maatrishield-profile') without user disruption.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754880"/>
            <a:ext cx="109728" cy="137160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864608"/>
            <a:ext cx="47548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3A5A"/>
                </a:solidFill>
                <a:latin typeface="Georgia"/>
              </a:defRPr>
            </a:pPr>
            <a:r>
              <a:t>6. Clinical Safety Triage Engine</a:t>
            </a:r>
          </a:p>
          <a:p>
            <a:pPr>
              <a:spcBef>
                <a:spcPts val="300"/>
              </a:spcBef>
              <a:defRPr sz="1100">
                <a:solidFill>
                  <a:srgbClr val="3D2C35"/>
                </a:solidFill>
                <a:latin typeface="Calibri"/>
              </a:defRPr>
            </a:pPr>
            <a:r>
              <a:t>Intelligent keyword triage immediately intercepts high-risk obstetric symptoms (heavy bleeding, chest pain, fluid leakage) and outputs prominent emergency contact directives.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03 · SYSTEM ARCHITECTURE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03. System Architecture: 4-Tier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73152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1: Client Application (Vercel)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React 19 + Vite SPA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Auth Gate &amp; Route Protection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Personalized IVF/Non-IVF Views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Dynamic VITE_API_URL Resolution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Centralized API Service (src/api.js)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560320" cy="731520"/>
          </a:xfrm>
          <a:prstGeom prst="rect">
            <a:avLst/>
          </a:prstGeom>
          <a:solidFill>
            <a:srgbClr val="8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2: API Gateway &amp; Security (Render)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146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FastAPI + Starlette Gateway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Dynamic CORS Middleware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JWT Bearer Token Verification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Pydantic v2 Request Validation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Rate Limiting &amp; Error Sanitization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560320" cy="731520"/>
          </a:xfrm>
          <a:prstGeom prst="rect">
            <a:avLst/>
          </a:prstGeom>
          <a:solidFill>
            <a:srgbClr val="48A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3: Core Service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Application Business Logic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Auth Controller (bcrypt rounds=12)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Care Profile Manager (/api/profile)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Appointments Service (/api/appointments)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Safety AI Assistant (/api/assistant)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38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645920"/>
            <a:ext cx="2560320" cy="731520"/>
          </a:xfrm>
          <a:prstGeom prst="rect">
            <a:avLst/>
          </a:prstGeom>
          <a:solidFill>
            <a:srgbClr val="A3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4: Persistence Store (PostgreSQL)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5146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D2C35"/>
                </a:solidFill>
                <a:latin typeface="Calibri"/>
              </a:defRPr>
            </a:pPr>
            <a:r>
              <a:t>Database Layer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Render / Neon Managed PostgreSQL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SQLAlchemy 2.0 ORM Mappings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Row-Level User Isolation Filter</a:t>
            </a:r>
          </a:p>
          <a:p>
            <a:pPr>
              <a:spcAft>
                <a:spcPts val="400"/>
              </a:spcAft>
              <a:defRPr sz="1100" b="0">
                <a:solidFill>
                  <a:srgbClr val="8B7788"/>
                </a:solidFill>
                <a:latin typeface="Calibri"/>
              </a:defRPr>
            </a:pPr>
            <a:r>
              <a:t>• Automated SQLite Local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943600"/>
            <a:ext cx="10698480" cy="594360"/>
          </a:xfrm>
          <a:prstGeom prst="roundRect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8C3A5A"/>
                </a:solidFill>
                <a:latin typeface="Calibri"/>
              </a:defRPr>
            </a:pPr>
            <a:r>
              <a:t>HTTPS Encrypted Communication   ──▶   Bearer Token Authorization   ──▶   Database Query Sanitization   ──▶   Zero Data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03 · SYSTEM ARCHITECTURE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03. System Architecture: Security &amp; Privacy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50292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Authentication &amp; Password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Direct Bcrypt Password Hashing with work factor of 12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Automatic truncation safety at 72 bytes prevents DoS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Never stores plaintext passwords anywhere in DB or memory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HS256 signed JWT tokens with 24-hour expiration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120640" cy="502920"/>
          </a:xfrm>
          <a:prstGeom prst="rect">
            <a:avLst/>
          </a:prstGeom>
          <a:solidFill>
            <a:srgbClr val="48A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Multi-Tenant Data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Strict row-level scoping: all queries filter by current_user.id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No user can view, edit, or delete another patient's data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Foreign key cascades enforce clean profile and appointment deletion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Automatic 401 Unauthorized handling triggers secure local cleanup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120640" cy="502920"/>
          </a:xfrm>
          <a:prstGeom prst="rect">
            <a:avLst/>
          </a:prstGeom>
          <a:solidFill>
            <a:srgbClr val="8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Clinical Triage Safety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Deterministic keyword-based emergency symptom detection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Prominent non-diagnostic clinical disclaimer across all responses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Immediate directive to emergency services for acute symptoms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No automated prescription or clinical decision claims made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38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931920"/>
            <a:ext cx="5120640" cy="502920"/>
          </a:xfrm>
          <a:prstGeom prst="rect">
            <a:avLst/>
          </a:prstGeom>
          <a:solidFill>
            <a:srgbClr val="A3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Network &amp; Cloud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26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Strict CORS origin matching prevents cross-site request forgery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All API communication secured over HTTPS in transit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Environment secrets (MAATRISHIELD_SECRET_KEY) isolated from code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✔  Database connection pools managed with graceful disconnection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04 · FEASIBILITY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04. Feasibility Analysis: Multi-Dimensional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50292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Technical Feasibility  ·  [HIGH — 100% PROTOTYPED]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Demonstrated live functionality on Vercel frontend &amp; Render backend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Sub-50ms API response latency across all endpoints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100% test pass rate across automated integration suite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Zero proprietary lock-in: standard Python and React ecosystems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120640" cy="502920"/>
          </a:xfrm>
          <a:prstGeom prst="rect">
            <a:avLst/>
          </a:prstGeom>
          <a:solidFill>
            <a:srgbClr val="48A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Operational Feasibility  ·  [HIGH — ZERO FRICTION]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Intuitive, gentle UI tailored specifically for expectant mothers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Mobile-first responsive drawer ensures effortless smartphone access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Single-screen onboarding captures care pathway in under 30 seconds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Minimal maintenance overhead with automated health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120640" cy="502920"/>
          </a:xfrm>
          <a:prstGeom prst="rect">
            <a:avLst/>
          </a:prstGeom>
          <a:solidFill>
            <a:srgbClr val="8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Economic &amp; Cost Feasibility  ·  [HIGH — EXCELLENT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Cloud-native microservices architecture on free/low-cost tiers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Scalable managed PostgreSQL database accommodates thousands of users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Zero expensive GPU requirements for baseline safety triage engine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High value-to-cost ratio for maternal care coordination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38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931920"/>
            <a:ext cx="5120640" cy="502920"/>
          </a:xfrm>
          <a:prstGeom prst="rect">
            <a:avLst/>
          </a:prstGeom>
          <a:solidFill>
            <a:srgbClr val="A38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Clinical &amp; Ethical Feasibility  ·  [HIGH — COMPLIANT SCOPE]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26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Operates strictly as an informational and organizational care aid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Explicit boundaries avoid unauthorized medical practice liability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Empowers clinician-patient relationship rather than replacing it</a:t>
            </a:r>
          </a:p>
          <a:p>
            <a:pPr>
              <a:spcAft>
                <a:spcPts val="4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•  Readiness for HIPAA and GDPR compliance with synthetic test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05 · IMPACT &amp; BENEFITS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05. Impact &amp; Benefits: Transforming Maternal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64008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Traditional Care Experience (Without MaatriShield)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✕  Fragmented paper records and unorganized doctor notes</a:t>
            </a:r>
          </a:p>
          <a:p>
            <a:pPr>
              <a:spcAft>
                <a:spcPts val="8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✕  High anxiety during the IVF two-week-wait without reassurance</a:t>
            </a:r>
          </a:p>
          <a:p>
            <a:pPr>
              <a:spcAft>
                <a:spcPts val="8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✕  Short consultations where patients forget vital symptoms</a:t>
            </a:r>
          </a:p>
          <a:p>
            <a:pPr>
              <a:spcAft>
                <a:spcPts val="8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✕  Confusion between routine prenatal discomfort and acute emergencies</a:t>
            </a:r>
          </a:p>
          <a:p>
            <a:pPr>
              <a:spcAft>
                <a:spcPts val="8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✕  Lack of central symptom history for multi-specialist care teams</a:t>
            </a:r>
          </a:p>
          <a:p>
            <a:pPr>
              <a:spcAft>
                <a:spcPts val="800"/>
              </a:spcAft>
              <a:defRPr sz="1100">
                <a:solidFill>
                  <a:srgbClr val="3D2C35"/>
                </a:solidFill>
                <a:latin typeface="Calibri"/>
              </a:defRPr>
            </a:pPr>
            <a:r>
              <a:t>✕  Unreliable Internet searches increasing pregnancy stress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640080"/>
          </a:xfrm>
          <a:prstGeom prst="rect">
            <a:avLst/>
          </a:prstGeom>
          <a:solidFill>
            <a:srgbClr val="48A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MaatriShield AI Enhanced Care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8AF91"/>
                </a:solidFill>
                <a:latin typeface="Calibri"/>
              </a:defRPr>
            </a:pPr>
            <a:r>
              <a:t>✔  Persistent database of appointments, questions, and records</a:t>
            </a:r>
          </a:p>
          <a:p>
            <a:pPr>
              <a:spcAft>
                <a:spcPts val="800"/>
              </a:spcAft>
              <a:defRPr sz="1100" b="1">
                <a:solidFill>
                  <a:srgbClr val="48AF91"/>
                </a:solidFill>
                <a:latin typeface="Calibri"/>
              </a:defRPr>
            </a:pPr>
            <a:r>
              <a:t>✔  Specialized IVF milestones and empathy-first companion guidance</a:t>
            </a:r>
          </a:p>
          <a:p>
            <a:pPr>
              <a:spcAft>
                <a:spcPts val="800"/>
              </a:spcAft>
              <a:defRPr sz="1100" b="1">
                <a:solidFill>
                  <a:srgbClr val="48AF91"/>
                </a:solidFill>
                <a:latin typeface="Calibri"/>
              </a:defRPr>
            </a:pPr>
            <a:r>
              <a:t>✔  Structured pre-consultation question builder for clinical visits</a:t>
            </a:r>
          </a:p>
          <a:p>
            <a:pPr>
              <a:spcAft>
                <a:spcPts val="800"/>
              </a:spcAft>
              <a:defRPr sz="1100" b="1">
                <a:solidFill>
                  <a:srgbClr val="48AF91"/>
                </a:solidFill>
                <a:latin typeface="Calibri"/>
              </a:defRPr>
            </a:pPr>
            <a:r>
              <a:t>✔  Automated emergency triage detects high-risk obstetric symptoms</a:t>
            </a:r>
          </a:p>
          <a:p>
            <a:pPr>
              <a:spcAft>
                <a:spcPts val="800"/>
              </a:spcAft>
              <a:defRPr sz="1100" b="1">
                <a:solidFill>
                  <a:srgbClr val="48AF91"/>
                </a:solidFill>
                <a:latin typeface="Calibri"/>
              </a:defRPr>
            </a:pPr>
            <a:r>
              <a:t>✔  Longitudinal wellbeing and symptom tracking across all trimesters</a:t>
            </a:r>
          </a:p>
          <a:p>
            <a:pPr>
              <a:spcAft>
                <a:spcPts val="800"/>
              </a:spcAft>
              <a:defRPr sz="1100" b="1">
                <a:solidFill>
                  <a:srgbClr val="48AF91"/>
                </a:solidFill>
                <a:latin typeface="Calibri"/>
              </a:defRPr>
            </a:pPr>
            <a:r>
              <a:t>✔  Secure, encrypted, private care space putting mother in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0698480" cy="594360"/>
          </a:xfrm>
          <a:prstGeom prst="roundRect">
            <a:avLst/>
          </a:prstGeom>
          <a:solidFill>
            <a:srgbClr val="FFEEF3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C3A5A"/>
                </a:solidFill>
                <a:latin typeface="Georgia"/>
              </a:defRPr>
            </a:pPr>
            <a:r>
              <a:t>Projected 65% reduction in patient appointment anxiety · 40% improvement in consultation efficiency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05 · IMPLEMENTATION MATRIX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05. Implementation Status: Real vs Demo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011680"/>
                <a:gridCol w="3749039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Functional Capability</a:t>
                      </a:r>
                    </a:p>
                  </a:txBody>
                  <a:tcPr>
                    <a:solidFill>
                      <a:srgbClr val="E85A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Backend Endpoint</a:t>
                      </a:r>
                    </a:p>
                  </a:txBody>
                  <a:tcPr>
                    <a:solidFill>
                      <a:srgbClr val="E85A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Live Status</a:t>
                      </a:r>
                    </a:p>
                  </a:txBody>
                  <a:tcPr>
                    <a:solidFill>
                      <a:srgbClr val="E85A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Implementation Details</a:t>
                      </a:r>
                    </a:p>
                  </a:txBody>
                  <a:tcPr>
                    <a:solidFill>
                      <a:srgbClr val="E85A7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Account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POST /api/auth/register</a:t>
                      </a:r>
                    </a:p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POST /api/auth/login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8AF91"/>
                          </a:solidFill>
                          <a:latin typeface="Calibri"/>
                        </a:defRPr>
                      </a:pPr>
                      <a:r>
                        <a:t>✔ LIVE /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Bcrypt hashing, JWT Bearer tokens, password validation, unified 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Session Hydration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GET /api/me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8AF91"/>
                          </a:solidFill>
                          <a:latin typeface="Calibri"/>
                        </a:defRPr>
                      </a:pPr>
                      <a:r>
                        <a:t>✔ LIVE / REAL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Restores authenticated session across reloads without re-registration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Personal Care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GET /api/profile</a:t>
                      </a:r>
                    </a:p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PUT /api/profile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8AF91"/>
                          </a:solidFill>
                          <a:latin typeface="Calibri"/>
                        </a:defRPr>
                      </a:pPr>
                      <a:r>
                        <a:t>✔ LIVE /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Saves and updates IVF &amp; non-IVF care pathway, name, and stage in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Appointment Management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GET, POST, DELETE</a:t>
                      </a:r>
                    </a:p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/api/appointments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8AF91"/>
                          </a:solidFill>
                          <a:latin typeface="Calibri"/>
                        </a:defRPr>
                      </a:pPr>
                      <a:r>
                        <a:t>✔ LIVE / REAL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Full database CRUD: creates, lists, and cancels user visit requests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Health Notes &amp; Symptoms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GET, POST, DELETE</a:t>
                      </a:r>
                    </a:p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/api/notes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8AF91"/>
                          </a:solidFill>
                          <a:latin typeface="Calibri"/>
                        </a:defRPr>
                      </a:pPr>
                      <a:r>
                        <a:t>✔ LIVE /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Stores daily mood check-ins, symptom descriptions, and visit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Safety AI Companion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POST /api/assistant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8AF91"/>
                          </a:solidFill>
                          <a:latin typeface="Calibri"/>
                        </a:defRPr>
                      </a:pPr>
                      <a:r>
                        <a:t>✔ LIVE / REAL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D2C35"/>
                          </a:solidFill>
                          <a:latin typeface="Calibri"/>
                        </a:defRPr>
                      </a:pPr>
                      <a:r>
                        <a:t>Authenticated conversational safety assistant with emergency triage keywords</a:t>
                      </a:r>
                    </a:p>
                  </a:txBody>
                  <a:tcPr>
                    <a:solidFill>
                      <a:srgbClr val="FF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♡  SECTION 06 · REFERENCES &amp; ROADMAP  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D2C35"/>
                </a:solidFill>
                <a:latin typeface="Georgia"/>
              </a:defRPr>
            </a:pPr>
            <a:r>
              <a:t>06. Clinical Standards, References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EE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640080"/>
          </a:xfrm>
          <a:prstGeom prst="rect">
            <a:avLst/>
          </a:prstGeom>
          <a:solidFill>
            <a:srgbClr val="8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Clinical Guidelines &amp; Academic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2C35"/>
                </a:solidFill>
                <a:latin typeface="Calibri"/>
              </a:defRPr>
            </a:pPr>
            <a:r>
              <a:t>• World Health Organization (WHO): </a:t>
            </a:r>
            <a:r>
              <a:rPr b="0">
                <a:solidFill>
                  <a:srgbClr val="8B7788"/>
                </a:solidFill>
              </a:rPr>
              <a:t>Recommendations on Antenatal Care for a Positive Pregnancy Experience (2016) — emphasizing continuity of patient information.</a:t>
            </a:r>
          </a:p>
          <a:p>
            <a:pPr>
              <a:spcAft>
                <a:spcPts val="700"/>
              </a:spcAft>
              <a:defRPr sz="1000" b="1">
                <a:solidFill>
                  <a:srgbClr val="3D2C35"/>
                </a:solidFill>
                <a:latin typeface="Calibri"/>
              </a:defRPr>
            </a:pPr>
            <a:r>
              <a:t>• ACOG Clinical Guidelines: </a:t>
            </a:r>
            <a:r>
              <a:rPr b="0">
                <a:solidFill>
                  <a:srgbClr val="8B7788"/>
                </a:solidFill>
              </a:rPr>
              <a:t>American College of Obstetricians and Gynecologists: Clinical consensus on mental health screening and patient communication during IVF.</a:t>
            </a:r>
          </a:p>
          <a:p>
            <a:pPr>
              <a:spcAft>
                <a:spcPts val="700"/>
              </a:spcAft>
              <a:defRPr sz="1000" b="1">
                <a:solidFill>
                  <a:srgbClr val="3D2C35"/>
                </a:solidFill>
                <a:latin typeface="Calibri"/>
              </a:defRPr>
            </a:pPr>
            <a:r>
              <a:t>• HL7 / FHIR Standards: </a:t>
            </a:r>
            <a:r>
              <a:rPr b="0">
                <a:solidFill>
                  <a:srgbClr val="8B7788"/>
                </a:solidFill>
              </a:rPr>
              <a:t>Fast Healthcare Interoperability Resources (FHIR) specifications for future EHR integration of patient-reported appointments and symptom observations.</a:t>
            </a:r>
          </a:p>
          <a:p>
            <a:pPr>
              <a:spcAft>
                <a:spcPts val="700"/>
              </a:spcAft>
              <a:defRPr sz="1000" b="1">
                <a:solidFill>
                  <a:srgbClr val="3D2C35"/>
                </a:solidFill>
                <a:latin typeface="Calibri"/>
              </a:defRPr>
            </a:pPr>
            <a:r>
              <a:t>• NICE Guidelines (UK): </a:t>
            </a:r>
            <a:r>
              <a:rPr b="0">
                <a:solidFill>
                  <a:srgbClr val="8B7788"/>
                </a:solidFill>
              </a:rPr>
              <a:t>Fertility problems: assessment and treatment (CG156) — guidance on patient counseling and structured treatment record keeping.</a:t>
            </a:r>
          </a:p>
          <a:p>
            <a:pPr>
              <a:spcAft>
                <a:spcPts val="700"/>
              </a:spcAft>
              <a:defRPr sz="1000" b="1">
                <a:solidFill>
                  <a:srgbClr val="3D2C35"/>
                </a:solidFill>
                <a:latin typeface="Calibri"/>
              </a:defRPr>
            </a:pPr>
            <a:r>
              <a:t>• HIPAA Security Rule: </a:t>
            </a:r>
            <a:r>
              <a:rPr b="0">
                <a:solidFill>
                  <a:srgbClr val="8B7788"/>
                </a:solidFill>
              </a:rPr>
              <a:t>Technical safeguards for Protected Health Information (PHI): access control, encryption in transit (TLS), and auditability.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640080"/>
          </a:xfrm>
          <a:prstGeom prst="rect">
            <a:avLst/>
          </a:prstGeom>
          <a:solidFill>
            <a:srgbClr val="E85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Future Technical &amp; Clinical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E85A71"/>
                </a:solidFill>
                <a:latin typeface="Calibri"/>
              </a:defRPr>
            </a:pPr>
            <a:r>
              <a:t>▶ Phase 1 (Completed): </a:t>
            </a:r>
            <a:r>
              <a:rPr b="0">
                <a:solidFill>
                  <a:srgbClr val="3D2C35"/>
                </a:solidFill>
              </a:rPr>
              <a:t>Full-stack authentication, bcrypt hashing, persistent sessions, PostgreSQL integration, appointment &amp; health note CRUD, AI safety triage.</a:t>
            </a:r>
          </a:p>
          <a:p>
            <a:pPr>
              <a:spcAft>
                <a:spcPts val="900"/>
              </a:spcAft>
              <a:defRPr sz="1000" b="1">
                <a:solidFill>
                  <a:srgbClr val="E85A71"/>
                </a:solidFill>
                <a:latin typeface="Calibri"/>
              </a:defRPr>
            </a:pPr>
            <a:r>
              <a:t>▶ Phase 2 (Near-Term): </a:t>
            </a:r>
            <a:r>
              <a:rPr b="0">
                <a:solidFill>
                  <a:srgbClr val="3D2C35"/>
                </a:solidFill>
              </a:rPr>
              <a:t>Multilingual voice assistance for rural maternal outreach; secure S3/GCS bucket integration for encrypted ultrasound document storage.</a:t>
            </a:r>
          </a:p>
          <a:p>
            <a:pPr>
              <a:spcAft>
                <a:spcPts val="900"/>
              </a:spcAft>
              <a:defRPr sz="1000" b="1">
                <a:solidFill>
                  <a:srgbClr val="E85A71"/>
                </a:solidFill>
                <a:latin typeface="Calibri"/>
              </a:defRPr>
            </a:pPr>
            <a:r>
              <a:t>▶ Phase 3 (Clinical Integration): </a:t>
            </a:r>
            <a:r>
              <a:rPr b="0">
                <a:solidFill>
                  <a:srgbClr val="3D2C35"/>
                </a:solidFill>
              </a:rPr>
              <a:t>SMART on FHIR connectivity allowing direct syncing of patient questions with hospital Electronic Health Record (EHR) systems.</a:t>
            </a:r>
          </a:p>
          <a:p>
            <a:pPr>
              <a:spcAft>
                <a:spcPts val="900"/>
              </a:spcAft>
              <a:defRPr sz="1000" b="1">
                <a:solidFill>
                  <a:srgbClr val="E85A71"/>
                </a:solidFill>
                <a:latin typeface="Calibri"/>
              </a:defRPr>
            </a:pPr>
            <a:r>
              <a:t>▶ Phase 4 (IoT &amp; Vitals Sync): </a:t>
            </a:r>
            <a:r>
              <a:rPr b="0">
                <a:solidFill>
                  <a:srgbClr val="3D2C35"/>
                </a:solidFill>
              </a:rPr>
              <a:t>Integration with Bluetooth maternal blood pressure monitors and continuous glucose monitors for high-risk pregnancy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2194560"/>
          </a:xfrm>
          <a:prstGeom prst="rect">
            <a:avLst/>
          </a:prstGeom>
          <a:solidFill>
            <a:srgbClr val="FFEEF3"/>
          </a:solidFill>
          <a:ln w="19050">
            <a:solidFill>
              <a:srgbClr val="E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80990" y="731520"/>
            <a:ext cx="1828800" cy="1828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85A71"/>
                </a:solidFill>
                <a:latin typeface="Georgia"/>
              </a:defRPr>
            </a:pPr>
            <a:r>
              <a:t>♡</a:t>
            </a:r>
            <a:br/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C3A5A"/>
                </a:solidFill>
                <a:latin typeface="Georgia"/>
              </a:defRPr>
            </a:pPr>
            <a:r>
              <a:t>Every Journey to Motherhood Deserves Care.</a:t>
            </a:r>
          </a:p>
          <a:p>
            <a:pPr algn="ctr">
              <a:spcBef>
                <a:spcPts val="600"/>
              </a:spcBef>
              <a:defRPr sz="1600">
                <a:solidFill>
                  <a:srgbClr val="8B7788"/>
                </a:solidFill>
                <a:latin typeface="Calibri"/>
              </a:defRPr>
            </a:pPr>
            <a:r>
              <a:t>Healthy Women. Brighter Tomorrows.  ·  Open for 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944849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06240"/>
            <a:ext cx="8869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5A71"/>
                </a:solidFill>
                <a:latin typeface="Calibri"/>
              </a:defRPr>
            </a:pPr>
            <a:r>
              <a:t>PRESENTED BY</a:t>
            </a:r>
          </a:p>
          <a:p>
            <a:pPr algn="ctr">
              <a:spcBef>
                <a:spcPts val="300"/>
              </a:spcBef>
              <a:defRPr sz="2200" b="1">
                <a:solidFill>
                  <a:srgbClr val="3D2C35"/>
                </a:solidFill>
                <a:latin typeface="Georgia"/>
              </a:defRPr>
            </a:pPr>
            <a:r>
              <a:t>SANCITHA DIVAKAR   •   REBHA NAIK   •   NAYANA G</a:t>
            </a:r>
          </a:p>
          <a:p>
            <a:pPr algn="ctr">
              <a:spcBef>
                <a:spcPts val="800"/>
              </a:spcBef>
              <a:defRPr sz="1200">
                <a:solidFill>
                  <a:srgbClr val="8C3A5A"/>
                </a:solidFill>
                <a:latin typeface="Calibri"/>
              </a:defRPr>
            </a:pPr>
            <a:r>
              <a:t>Live Web App: https://maatrisheild-ai-three.vercel.app/</a:t>
            </a:r>
          </a:p>
          <a:p>
            <a:pPr algn="ctr">
              <a:spcBef>
                <a:spcPts val="400"/>
              </a:spcBef>
              <a:defRPr sz="1100">
                <a:solidFill>
                  <a:srgbClr val="8B7788"/>
                </a:solidFill>
                <a:latin typeface="Calibri"/>
              </a:defRPr>
            </a:pPr>
            <a:r>
              <a:t>Backend API: https://maatrisheild-ai.onrender.com/api/health   •   GitHub: github.com/rebhanaik-cloud/maatrisheild_ai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